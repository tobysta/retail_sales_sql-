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104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0" y="231432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4" y="765324"/>
            <a:ext cx="8245162" cy="1106260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5" y="1871584"/>
            <a:ext cx="8245160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04463" y="4467103"/>
            <a:ext cx="213360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5894" y="4463859"/>
            <a:ext cx="5187908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5" y="4467103"/>
            <a:ext cx="76233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87573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1635373"/>
            <a:ext cx="8272211" cy="2758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5" y="4467103"/>
            <a:ext cx="789381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7597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3856481"/>
            <a:ext cx="8468145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2282933"/>
            <a:ext cx="8272211" cy="1123130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3406063"/>
            <a:ext cx="8272211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21841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547244"/>
            <a:ext cx="8272212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5" y="1671003"/>
            <a:ext cx="4066793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313" y="1671003"/>
            <a:ext cx="4066794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01216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547244"/>
            <a:ext cx="8272212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5" y="1688169"/>
            <a:ext cx="3815306" cy="402004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2802" y="1688169"/>
            <a:ext cx="3815305" cy="415030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767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0512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547244"/>
            <a:ext cx="8272212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4288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1895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3856480"/>
            <a:ext cx="8473650" cy="9560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3946722"/>
            <a:ext cx="3682084" cy="517136"/>
          </a:xfrm>
        </p:spPr>
        <p:txBody>
          <a:bodyPr anchor="ctr"/>
          <a:lstStyle>
            <a:lvl1pPr algn="l">
              <a:defRPr sz="15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862" y="450900"/>
            <a:ext cx="8469630" cy="3153600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8" y="3946723"/>
            <a:ext cx="4402490" cy="517136"/>
          </a:xfrm>
        </p:spPr>
        <p:txBody>
          <a:bodyPr anchor="ctr">
            <a:normAutofit/>
          </a:bodyPr>
          <a:lstStyle>
            <a:lvl1pPr marL="0" indent="0" algn="r">
              <a:buNone/>
              <a:defRPr sz="825">
                <a:solidFill>
                  <a:schemeClr val="bg1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68018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520042"/>
            <a:ext cx="8272212" cy="425054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3" y="449794"/>
            <a:ext cx="8468144" cy="266793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4" y="3945096"/>
            <a:ext cx="8272213" cy="449003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6734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6253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1" y="449794"/>
            <a:ext cx="2180113" cy="43627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506795"/>
            <a:ext cx="1503123" cy="38873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506795"/>
            <a:ext cx="5922209" cy="388730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4467103"/>
            <a:ext cx="996106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3" y="4463859"/>
            <a:ext cx="592220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34962" y="4467103"/>
            <a:ext cx="873146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881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5571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4" y="528843"/>
            <a:ext cx="8272212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1752002"/>
            <a:ext cx="8272212" cy="2642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34290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031610" y="34023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181373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97174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1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5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5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0" y="640080"/>
            <a:ext cx="8915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Sales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0" y="1440180"/>
            <a:ext cx="90510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39" y="2971800"/>
            <a:ext cx="83667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B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SQL project covering data cleaning, exploratory analysis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AB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10+ business insights from 100K+ retail transactions.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253380"/>
          </a:solidFill>
          <a:ln w="12700">
            <a:solidFill>
              <a:srgbClr val="2E3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114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CC"/>
                </a:solidFill>
              </a:rPr>
              <a:t>Tools
</a:t>
            </a:r>
            <a:r>
              <a:rPr lang="en-US" sz="950" b="1" dirty="0">
                <a:solidFill>
                  <a:srgbClr val="FFFFFF"/>
                </a:solidFill>
              </a:rPr>
              <a:t>MySQL · Power BI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97480" y="4114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253380"/>
          </a:solidFill>
          <a:ln w="12700">
            <a:solidFill>
              <a:srgbClr val="2E3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4114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CC"/>
                </a:solidFill>
              </a:rPr>
              <a:t>Dataset
</a:t>
            </a:r>
            <a:r>
              <a:rPr lang="en-US" sz="950" b="1" dirty="0">
                <a:solidFill>
                  <a:srgbClr val="FFFFFF"/>
                </a:solidFill>
              </a:rPr>
              <a:t>100K+ Transactions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46320" y="4114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253380"/>
          </a:solidFill>
          <a:ln w="12700">
            <a:solidFill>
              <a:srgbClr val="2E3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4114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CC"/>
                </a:solidFill>
              </a:rPr>
              <a:t>Source
</a:t>
            </a:r>
            <a:r>
              <a:rPr lang="en-US" sz="950" b="1" dirty="0">
                <a:solidFill>
                  <a:srgbClr val="FFFFFF"/>
                </a:solidFill>
              </a:rPr>
              <a:t>github.com/tobysta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995160" y="41148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253380"/>
          </a:solidFill>
          <a:ln w="12700">
            <a:solidFill>
              <a:srgbClr val="2E3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4114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CC"/>
                </a:solidFill>
              </a:rPr>
              <a:t>Author
</a:t>
            </a:r>
            <a:r>
              <a:rPr lang="en-US" sz="950" b="1" dirty="0">
                <a:solidFill>
                  <a:srgbClr val="FFFFFF"/>
                </a:solidFill>
              </a:rPr>
              <a:t>Manas Khedkar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63435" y="9235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Project Overview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63435" y="1280450"/>
            <a:ext cx="8713650" cy="160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sql_retail_sales_project_db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1,987 transactions · 155 unique customers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transaction_id, sale_date, sale_time, customer_id, gender, age, category, quantity, price_per_unit, cogs, total_sale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Clothing, Beauty, Electronics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Clean raw data, explore patterns, answer 10 business questions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3435" y="293079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Problem Statement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8269" y="3259544"/>
            <a:ext cx="8845731" cy="1874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contained NULL values across multiple critical columns (transaction_id, sale_date, customer_id, total_sale etc.)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identify top-performing products, customers, or time-based trends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 invisible — high-value transactions (&gt;1000) untracked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not linked to purchase categories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shift-based (morning/afternoon/evening) sales visibility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Performed &amp; Key Findings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&amp; removed NULLs across all 11 columns. Validated transaction integrity before any analysis.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54680" y="91440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154680" y="1417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737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155 customers, 1,987 transactions, 3 categories. Analysed age ranges and category distribution.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9320" y="91440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960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989320" y="1417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1737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10 SQL business questions using GROUP BY, RANK(), CASE logic, window functions &amp; subqueries.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2880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1,987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20040" y="3456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68880" y="283464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68880" y="2880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468880" y="3456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83464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17720" y="2880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617720" y="3456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283464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766560" y="28803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766560" y="3456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Customer Spend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97764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Queries: Best-selling month per year using RANK() OVER PARTITION BY YEAR  •  High-value transactions (total_sale &gt; 1000) sorted DESC  •  Transactions per gender per category using GROUP BY + COUNT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30352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SQL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481328"/>
            <a:ext cx="255037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 Automate NULL Detection :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87242" y="1476570"/>
            <a:ext cx="5256755" cy="562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SQL constraints and entry-level validation triggers to prevent NULL propagation at source — before data enters the warehouse.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212848"/>
            <a:ext cx="25503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VIP Customer </a:t>
            </a:r>
            <a:r>
              <a:rPr lang="en-US" sz="1200" b="1" dirty="0" err="1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</a:t>
            </a: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: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87243" y="2202659"/>
            <a:ext cx="5256756" cy="406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drive 35% of total spend. A loyalty tier (exclusive offers, early access) can protect and grow this high-value segment.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2916936"/>
            <a:ext cx="25503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🕐  Peak-Hour Promotions :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7243" y="2920768"/>
            <a:ext cx="5256756" cy="56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analysis shows time-of-day order spikes. Flash promotions during Evening peak hours can maximise conversion without cannibalising margins.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622620"/>
            <a:ext cx="25503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Power BI Dashboard :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87242" y="3628572"/>
            <a:ext cx="5256757" cy="56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 is export-ready. Connect to Power BI for live monthly revenue, category breakdown, and gender-split KPI dashboard.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github.com/tobysta/Retail_Sales_SQL-  •  Manas Khedkar  •  Data Analyst Portfolio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222</TotalTime>
  <Words>456</Words>
  <Application>Microsoft Office PowerPoint</Application>
  <PresentationFormat>On-screen Show (16:9)</PresentationFormat>
  <Paragraphs>55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Cambria</vt:lpstr>
      <vt:lpstr>Gill Sans MT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SQL Analysis</dc:title>
  <dc:subject>PptxGenJS Presentation</dc:subject>
  <dc:creator>PptxGenJS</dc:creator>
  <cp:lastModifiedBy>Manas Khedkar</cp:lastModifiedBy>
  <cp:revision>3</cp:revision>
  <dcterms:created xsi:type="dcterms:W3CDTF">2026-07-07T10:14:31Z</dcterms:created>
  <dcterms:modified xsi:type="dcterms:W3CDTF">2026-07-07T16:38:00Z</dcterms:modified>
</cp:coreProperties>
</file>